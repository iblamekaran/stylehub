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8" r:id="rId19"/>
    <p:sldId id="269" r:id="rId20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141414"/>
                </a:solidFill>
                <a:latin typeface="Georgia"/>
              </a:rPr>
              <a:t>StyleHub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75895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defRPr sz="1400" b="0">
                <a:solidFill>
                  <a:srgbClr val="5F5F5F"/>
                </a:solidFill>
                <a:latin typeface="Arial"/>
              </a:defRPr>
            </a:pPr>
            <a:r>
              <a:t>A front-end clothes ordering experience — catalog, cart, checkout &amp; accounts,</a:t>
            </a:r>
            <a:br/>
            <a:r>
              <a:t>built with React 18, Vite, modern CSS3, semantic HTML5 &amp; vanilla JavaScript.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33472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816352"/>
            <a:ext cx="28346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Georgia"/>
              </a:rP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28346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Arial"/>
              </a:rPr>
              <a:t>25CSE0203 · B.E. CSE, 3rd Sem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633472"/>
            <a:ext cx="4617720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8" y="278892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Georgia"/>
              </a:rPr>
              <a:t>TEAM MEMBERS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8" y="3200400"/>
            <a:ext cx="4206240" cy="310896"/>
          </a:xfrm>
          <a:prstGeom prst="rect">
            <a:avLst/>
          </a:prstGeom>
          <a:solidFill>
            <a:srgbClr val="F8F8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3218688"/>
            <a:ext cx="25603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5F5F5F"/>
                </a:solidFill>
                <a:latin typeface="Arial"/>
              </a:rPr>
              <a:t>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218688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5F5F5F"/>
                </a:solidFill>
                <a:latin typeface="Arial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218688"/>
            <a:ext cx="12344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5F5F5F"/>
                </a:solidFill>
                <a:latin typeface="Arial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547872"/>
            <a:ext cx="256032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547872"/>
            <a:ext cx="23774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141414"/>
                </a:solidFill>
                <a:latin typeface="Arial"/>
              </a:rPr>
              <a:t>Karanvir Singh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547872"/>
            <a:ext cx="12344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141414"/>
                </a:solidFill>
                <a:latin typeface="Arial"/>
              </a:rPr>
              <a:t>2510990746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822191"/>
            <a:ext cx="256032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822191"/>
            <a:ext cx="23774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141414"/>
                </a:solidFill>
                <a:latin typeface="Arial"/>
              </a:rPr>
              <a:t>Harmanpreet Singh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822191"/>
            <a:ext cx="12344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141414"/>
                </a:solidFill>
                <a:latin typeface="Arial"/>
              </a:rPr>
              <a:t>2510991133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096511"/>
            <a:ext cx="256032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096511"/>
            <a:ext cx="23774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141414"/>
                </a:solidFill>
                <a:latin typeface="Arial"/>
              </a:rPr>
              <a:t>Gunvir Singh Ahluwalia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4096511"/>
            <a:ext cx="12344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141414"/>
                </a:solidFill>
                <a:latin typeface="Arial"/>
              </a:rPr>
              <a:t>2510990841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4370831"/>
            <a:ext cx="256032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370831"/>
            <a:ext cx="23774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141414"/>
                </a:solidFill>
                <a:latin typeface="Arial"/>
              </a:rPr>
              <a:t>Tushar Rattan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370831"/>
            <a:ext cx="1234440" cy="210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141414"/>
                </a:solidFill>
                <a:latin typeface="Arial"/>
              </a:rPr>
              <a:t>2510990838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19472"/>
            <a:ext cx="397763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093208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41414"/>
                </a:solidFill>
                <a:latin typeface="Georgia"/>
              </a:rPr>
              <a:t>REPOSITORY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468112"/>
            <a:ext cx="3474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5F5F5F"/>
                </a:solidFill>
                <a:latin typeface="Arial"/>
              </a:rPr>
              <a:t>GitHub · updated throughout the semester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4919472"/>
            <a:ext cx="38862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0328" y="5093208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1E00"/>
                </a:solidFill>
                <a:latin typeface="Arial"/>
              </a:rPr>
              <a:t>SUBMITTED 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5093208"/>
            <a:ext cx="2057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Arial"/>
              </a:rPr>
              <a:t>Dr. Neha Sharma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9904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5F5F5F"/>
                </a:solidFill>
                <a:latin typeface="Arial"/>
              </a:rPr>
              <a:t>Live product screenshots captured directly from our running site are used throughout this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What we'll walk 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8138160" cy="749808"/>
          </a:xfrm>
          <a:prstGeom prst="roundRect">
            <a:avLst>
              <a:gd name="adj" fmla="val 8000"/>
            </a:avLst>
          </a:prstGeom>
          <a:solidFill>
            <a:srgbClr val="F8F8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11679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64119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39112"/>
            <a:ext cx="6812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0">
                <a:solidFill>
                  <a:srgbClr val="141414"/>
                </a:solidFill>
                <a:latin typeface="Arial"/>
              </a:defRPr>
            </a:pPr>
            <a:r>
              <a:t>Project overview &amp; problem it solves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39"/>
            <a:ext cx="8138160" cy="749808"/>
          </a:xfrm>
          <a:prstGeom prst="roundRect">
            <a:avLst>
              <a:gd name="adj" fmla="val 8000"/>
            </a:avLst>
          </a:prstGeom>
          <a:solidFill>
            <a:srgbClr val="F8F8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71799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64119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9232"/>
            <a:ext cx="6812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0">
                <a:solidFill>
                  <a:srgbClr val="141414"/>
                </a:solidFill>
                <a:latin typeface="Arial"/>
              </a:defRPr>
            </a:pPr>
            <a:r>
              <a:t>Tech stack &amp; modern Vite tooling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8138160" cy="749808"/>
          </a:xfrm>
          <a:prstGeom prst="roundRect">
            <a:avLst>
              <a:gd name="adj" fmla="val 8000"/>
            </a:avLst>
          </a:prstGeom>
          <a:solidFill>
            <a:srgbClr val="F8F8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31920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64119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59352"/>
            <a:ext cx="6812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0">
                <a:solidFill>
                  <a:srgbClr val="141414"/>
                </a:solidFill>
                <a:latin typeface="Arial"/>
              </a:defRPr>
            </a:pPr>
            <a:r>
              <a:t>React catalog architecture &amp; state hooks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54880"/>
            <a:ext cx="8138160" cy="749808"/>
          </a:xfrm>
          <a:prstGeom prst="roundRect">
            <a:avLst>
              <a:gd name="adj" fmla="val 8000"/>
            </a:avLst>
          </a:prstGeom>
          <a:solidFill>
            <a:srgbClr val="F8F8F6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892040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C64119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19472"/>
            <a:ext cx="6812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0">
                <a:solidFill>
                  <a:srgbClr val="141414"/>
                </a:solidFill>
                <a:latin typeface="Arial"/>
              </a:defRPr>
            </a:pPr>
            <a:r>
              <a:t>Site map, system flow, live preview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A small, considered online wardrobe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794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002536"/>
            <a:ext cx="346557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Digital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95727"/>
            <a:ext cx="3465576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0">
                <a:solidFill>
                  <a:srgbClr val="5F5F5F"/>
                </a:solidFill>
                <a:latin typeface="Arial"/>
              </a:defRPr>
            </a:pPr>
            <a:r>
              <a:t>Six curated clothing products browsed in a responsive grid, dynamically filtered by collection and search via React.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874519"/>
            <a:ext cx="3794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2002536"/>
            <a:ext cx="346557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Detail &amp;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395727"/>
            <a:ext cx="3465576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5F5F"/>
                </a:solidFill>
                <a:latin typeface="Arial"/>
              </a:rPr>
              <a:t>Clicking a product opens a full gallery with star ratings and a live review form — anyone can rate and comment.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3794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831335"/>
            <a:ext cx="346557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Bag &amp; 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224528"/>
            <a:ext cx="3465576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5F5F"/>
                </a:solidFill>
                <a:latin typeface="Arial"/>
              </a:rPr>
              <a:t>A persistent shopping bag with quantities and totals, flowing into a validated delivery-details checkout 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703320"/>
            <a:ext cx="3794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3831335"/>
            <a:ext cx="346557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Accounts &amp; wallet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224528"/>
            <a:ext cx="3465576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F5F5F"/>
                </a:solidFill>
                <a:latin typeface="Arial"/>
              </a:rPr>
              <a:t>Sign up / log in, a StyleHub wallet balance, saved addresses and full order history — simulated with browser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PROBLEM &amp;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Why StyleHub — and what it had to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8404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56816"/>
            <a:ext cx="35112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0008"/>
            <a:ext cx="3511296" cy="35204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Arial"/>
              </a:rPr>
              <a:t>– Manual, message-based clothing orders are slow and easy to lose track of
– No single place to browse what's actually available before asking
– Customers can't see reviews or ratings before choosing a piece
– Order status and history live in scattered chats, not one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828800"/>
            <a:ext cx="38404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1956816"/>
            <a:ext cx="35112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OUR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2350008"/>
            <a:ext cx="3511296" cy="35204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Arial"/>
              </a:rPr>
              <a:t>– Give visitors a clean, fast catalog they can browse and filter visually
– Make selecting, reviewing and bagging an item take a few clicks
– Guide checkout with clear validation and a confirmed order summary
– Let returning customers manage address, wallet and past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700" b="1">
                <a:solidFill>
                  <a:srgbClr val="141414"/>
                </a:solidFill>
                <a:latin typeface="Georgia"/>
              </a:defRPr>
            </a:pPr>
            <a:r>
              <a:t>Built with core front-end fundamentals &amp; 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886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56816"/>
            <a:ext cx="3557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Georgia"/>
              </a:defRPr>
            </a:pPr>
            <a:r>
              <a:t>React 18 &amp;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0008"/>
            <a:ext cx="3557016" cy="12344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0">
                <a:solidFill>
                  <a:srgbClr val="5F5F5F"/>
                </a:solidFill>
                <a:latin typeface="Arial"/>
              </a:defRPr>
            </a:pPr>
            <a:r>
              <a:t>Component-based catalog architecture, declarative JSX UI, and Vite 6 development server with Hot Module Replacement (HMR).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828800"/>
            <a:ext cx="3886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956816"/>
            <a:ext cx="3557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Georgia"/>
              </a:defRPr>
            </a:pPr>
            <a:r>
              <a:t>JavaScript (ES6+)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350008"/>
            <a:ext cx="3557016" cy="12344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0">
                <a:solidFill>
                  <a:srgbClr val="5F5F5F"/>
                </a:solidFill>
                <a:latin typeface="Arial"/>
              </a:defRPr>
            </a:pPr>
            <a:r>
              <a:t>Arrow functions, template literals, destructuring, DOM APIs, and bidirectional window.StyleHub interoperability bridge.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3886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014215"/>
            <a:ext cx="3557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Georgia"/>
              </a:defRPr>
            </a:pPr>
            <a:r>
              <a:t>HTML5 &amp; CSS3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407408"/>
            <a:ext cx="3557016" cy="12344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0">
                <a:solidFill>
                  <a:srgbClr val="5F5F5F"/>
                </a:solidFill>
                <a:latin typeface="Arial"/>
              </a:defRPr>
            </a:pPr>
            <a:r>
              <a:t>Semantic multi-page layout (header, nav, section, footer), CSS custom properties, responsive Flexbox &amp; Grid styling.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886200"/>
            <a:ext cx="3886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4014215"/>
            <a:ext cx="3557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700" b="1">
                <a:solidFill>
                  <a:srgbClr val="141414"/>
                </a:solidFill>
                <a:latin typeface="Georgia"/>
              </a:defRPr>
            </a:pPr>
            <a:r>
              <a:t>Browser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4407408"/>
            <a:ext cx="3557016" cy="123443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0">
                <a:solidFill>
                  <a:srgbClr val="5F5F5F"/>
                </a:solidFill>
                <a:latin typeface="Arial"/>
              </a:defRPr>
            </a:pPr>
            <a:r>
              <a:t>Persistent localStorage + JSON for bag items, user accounts, wallet balance, saved addresses, and submitted reviews.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7955279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00" b="1">
                <a:solidFill>
                  <a:srgbClr val="C64119"/>
                </a:solidFill>
                <a:latin typeface="Arial"/>
              </a:defRPr>
            </a:pPr>
            <a:r>
              <a:t>4 pages · index · about · account · checkout     React catalog.jsx (142 lines)     script.js &amp; style.css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SITE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Four pages, one shared shell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886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56816"/>
            <a:ext cx="3557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index.html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0008"/>
            <a:ext cx="3557016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Arial"/>
              </a:defRPr>
            </a:pPr>
            <a:r>
              <a:t>Hero + React catalog grid (#productGrid), product modal, cart drawer — the main shopping 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828800"/>
            <a:ext cx="3886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956816"/>
            <a:ext cx="3557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about.html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350008"/>
            <a:ext cx="3557016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Arial"/>
              </a:rPr>
              <a:t>Brand story section, explaining the small, considered product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3886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785615"/>
            <a:ext cx="3557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account.html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78808"/>
            <a:ext cx="3557016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Arial"/>
              </a:rPr>
              <a:t>Login / signup tabs, wallet top-up, saved address, order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657600"/>
            <a:ext cx="3886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3785615"/>
            <a:ext cx="3557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Georgia"/>
              </a:rPr>
              <a:t>checkout.html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4178808"/>
            <a:ext cx="3557016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F5F5F"/>
                </a:solidFill>
                <a:latin typeface="Arial"/>
              </a:rPr>
              <a:t>Order summary + delivery form with validation and payment 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78638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0">
                <a:solidFill>
                  <a:srgbClr val="141414"/>
                </a:solidFill>
                <a:latin typeface="Arial"/>
              </a:defRPr>
            </a:pPr>
            <a:r>
              <a:t>Every page shares the same header, cart drawer and footer markup — index mounts React; other pages use shared script.js.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SYSTEM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From browsing to a placed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828800"/>
            <a:ext cx="15087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2011680"/>
            <a:ext cx="365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C64119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42032"/>
            <a:ext cx="13258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/>
              </a:rPr>
              <a:t>Open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3246120"/>
            <a:ext cx="128016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00" b="0">
                <a:solidFill>
                  <a:srgbClr val="5F5F5F"/>
                </a:solidFill>
                <a:latin typeface="Arial"/>
              </a:defRPr>
            </a:pPr>
            <a:r>
              <a:t>React mounts ProductCatalog &amp; renders dynamic ProductCard components from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1828800"/>
            <a:ext cx="15087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2011680"/>
            <a:ext cx="365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C64119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542032"/>
            <a:ext cx="13258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/>
              </a:rPr>
              <a:t>View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3246120"/>
            <a:ext cx="128016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00" b="0">
                <a:solidFill>
                  <a:srgbClr val="5F5F5F"/>
                </a:solidFill>
                <a:latin typeface="Arial"/>
              </a:defRPr>
            </a:pPr>
            <a:r>
              <a:t>Clicking card triggers onOpen to display modal with gallery, rating &amp;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1828800"/>
            <a:ext cx="15087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011680"/>
            <a:ext cx="365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C64119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1" y="2542032"/>
            <a:ext cx="13258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/>
              </a:rPr>
              <a:t>Add to bag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246120"/>
            <a:ext cx="128016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00" b="0">
                <a:solidFill>
                  <a:srgbClr val="5F5F5F"/>
                </a:solidFill>
                <a:latin typeface="Arial"/>
              </a:defRPr>
            </a:pPr>
            <a:r>
              <a:t>Local quantity state passed to onAdd; item saved to localStorage cart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41264" y="1828800"/>
            <a:ext cx="15087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2011680"/>
            <a:ext cx="365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C64119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2703" y="2542032"/>
            <a:ext cx="13258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/>
              </a:rPr>
              <a:t>Checkout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3246120"/>
            <a:ext cx="128016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Arial"/>
              </a:rPr>
              <a:t>Delivery details captured with live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1828800"/>
            <a:ext cx="15087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3" y="2011680"/>
            <a:ext cx="3657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C64119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5" y="2542032"/>
            <a:ext cx="13258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/>
              </a:rPr>
              <a:t>Order placed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3" y="3246120"/>
            <a:ext cx="128016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Arial"/>
              </a:rPr>
              <a:t>Order saved to account history, bag cleared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78638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rial"/>
              </a:rPr>
              <a:t>Steps 3–5 persist through localStorage, so a refresh never loses the customer's bag or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LIVE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Home &amp; catalog grid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65392" y="1572768"/>
            <a:ext cx="2148840" cy="274320"/>
          </a:xfrm>
          <a:prstGeom prst="rect">
            <a:avLst/>
          </a:prstGeom>
          <a:solidFill>
            <a:srgbClr val="307D43"/>
          </a:solidFill>
          <a:ln>
            <a:solidFill>
              <a:srgbClr val="307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1848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LIVE FROM OUR RUNNING SITE</a:t>
            </a:r>
          </a:p>
        </p:txBody>
      </p:sp>
      <p:pic>
        <p:nvPicPr>
          <p:cNvPr id="10" name="Picture 9" descr="crop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7040880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5833872"/>
            <a:ext cx="6858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0">
                <a:solidFill>
                  <a:srgbClr val="5F5F5F"/>
                </a:solidFill>
                <a:latin typeface="Arial"/>
              </a:defRPr>
            </a:pPr>
            <a:r>
              <a:t>index.html — hero + React-powered dynamic catalog with search &amp; collection filtering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LIVE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Product detail, ratings &amp;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65392" y="1572768"/>
            <a:ext cx="2148840" cy="274320"/>
          </a:xfrm>
          <a:prstGeom prst="rect">
            <a:avLst/>
          </a:prstGeom>
          <a:solidFill>
            <a:srgbClr val="307D43"/>
          </a:solidFill>
          <a:ln>
            <a:solidFill>
              <a:srgbClr val="307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1848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LIVE FROM OUR RUNNING SITE</a:t>
            </a:r>
          </a:p>
        </p:txBody>
      </p:sp>
      <p:pic>
        <p:nvPicPr>
          <p:cNvPr id="10" name="Picture 9" descr="cro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7040880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5833872"/>
            <a:ext cx="6858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Arial"/>
              </a:rPr>
              <a:t>Click any card to open its gallery, price &amp; review 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LIVE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Shopping bag &amp; checkout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65392" y="1572768"/>
            <a:ext cx="2148840" cy="274320"/>
          </a:xfrm>
          <a:prstGeom prst="rect">
            <a:avLst/>
          </a:prstGeom>
          <a:solidFill>
            <a:srgbClr val="307D43"/>
          </a:solidFill>
          <a:ln>
            <a:solidFill>
              <a:srgbClr val="307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1848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LIVE FROM OUR RUNNING SITE</a:t>
            </a:r>
          </a:p>
        </p:txBody>
      </p:sp>
      <p:pic>
        <p:nvPicPr>
          <p:cNvPr id="10" name="Picture 9" descr="cr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7040880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5833872"/>
            <a:ext cx="6858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Arial"/>
              </a:rPr>
              <a:t>Cart drawer — live quantity &amp; total    checkout.html — validated delivery 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LIVE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Accounts &amp; fully responsive layout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65392" y="1572768"/>
            <a:ext cx="2148840" cy="274320"/>
          </a:xfrm>
          <a:prstGeom prst="rect">
            <a:avLst/>
          </a:prstGeom>
          <a:solidFill>
            <a:srgbClr val="307D43"/>
          </a:solidFill>
          <a:ln>
            <a:solidFill>
              <a:srgbClr val="307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1848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LIVE FROM OUR RUNNING SITE</a:t>
            </a:r>
          </a:p>
        </p:txBody>
      </p:sp>
      <p:pic>
        <p:nvPicPr>
          <p:cNvPr id="10" name="Picture 9" descr="crop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7040880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5833872"/>
            <a:ext cx="6858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Arial"/>
              </a:rPr>
              <a:t>account.html — login / signup, wallet, orders    Mobile viewport (390px) — single breakpoint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tka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64119"/>
                </a:solidFill>
                <a:latin typeface="Arial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/>
              </a:rPr>
              <a:t>StyleHub, and where it goes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7955279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400" b="0">
                <a:solidFill>
                  <a:srgbClr val="5F5F5F"/>
                </a:solidFill>
                <a:latin typeface="Arial"/>
              </a:defRPr>
            </a:pPr>
            <a:r>
              <a:t>We set out to replace manual, message-based clothing orders with a clean front-end experience — combining a dynamic React 18 catalog with a multi-page HTML5, CSS3, and JavaScript storefront.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6324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191256"/>
            <a:ext cx="35112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Georgia"/>
              </a:defRPr>
            </a:pPr>
            <a:r>
              <a:t>Full React SPA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584448"/>
            <a:ext cx="3511296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5F5F5F"/>
                </a:solidFill>
                <a:latin typeface="Arial"/>
              </a:defRPr>
            </a:pPr>
            <a:r>
              <a:t>Expand React components across all pages — migrating modal, cart drawer, and checkout to React Router and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306324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3191256"/>
            <a:ext cx="35112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Georgia"/>
              </a:defRPr>
            </a:pPr>
            <a:r>
              <a:t>Real Backend &amp;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3584448"/>
            <a:ext cx="3511296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5F5F5F"/>
                </a:solidFill>
                <a:latin typeface="Arial"/>
              </a:defRPr>
            </a:pPr>
            <a:r>
              <a:t>Move products, orders, and user accounts off localStorage onto a Node.js/Express server with MongoDB or PostgreSQL.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3484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562855"/>
            <a:ext cx="35112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Georgia"/>
              </a:defRPr>
            </a:pPr>
            <a:r>
              <a:t>Real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956048"/>
            <a:ext cx="3511296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5F5F5F"/>
                </a:solidFill>
                <a:latin typeface="Arial"/>
              </a:defRPr>
            </a:pPr>
            <a:r>
              <a:t>Implement JWT session tokens, bcrypt password hashing, and user profile management in place of simulated login.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443484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4562855"/>
            <a:ext cx="35112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600" b="1">
                <a:solidFill>
                  <a:srgbClr val="141414"/>
                </a:solidFill>
                <a:latin typeface="Georgia"/>
              </a:defRPr>
            </a:pPr>
            <a:r>
              <a:t>Payments &amp;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4956048"/>
            <a:ext cx="3511296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5F5F5F"/>
                </a:solidFill>
                <a:latin typeface="Arial"/>
              </a:defRPr>
            </a:pPr>
            <a:r>
              <a:t>Integrate Razorpay/Stripe payment gateway, automated CI/CD via GitHub Actions, and production deployment on Vercel.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78638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C64119"/>
                </a:solidFill>
                <a:latin typeface="Georgia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53912"/>
            <a:ext cx="7863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F5F5F"/>
                </a:solidFill>
                <a:latin typeface="Arial"/>
              </a:rPr>
              <a:t>Questions &amp; a live walkthrough    welcome.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C64119"/>
                </a:solidFill>
                <a:latin typeface="Arial"/>
              </a:defRPr>
            </a:pPr>
            <a:r>
              <a:t>REACT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Georgia"/>
              </a:defRPr>
            </a:pPr>
            <a:r>
              <a:t>Why React &amp; Hybrid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56816"/>
            <a:ext cx="355701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Georgia"/>
              </a:defRPr>
            </a:pPr>
            <a:r>
              <a:t>Why React in StyleHub?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0008"/>
            <a:ext cx="3557016" cy="12344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Replaced imperative DOM manipulation with declarative, reactive components.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Solved catalog synchronization issues when adding real-time search &amp; filters.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Eliminates manual innerHTML generation previously written in script.js.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8288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956816"/>
            <a:ext cx="355701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Georgia"/>
              </a:defRPr>
            </a:pPr>
            <a:r>
              <a:t>Hybrid Mount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350008"/>
            <a:ext cx="3557016" cy="12344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Targeted integration: React mounts into #productGrid via createRoot().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Retains lightweight multi-page architecture across about, account &amp; checkout.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Avoids unnecessary SPA complexity while maximizing catalog reactivity.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014215"/>
            <a:ext cx="355701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Georgia"/>
              </a:defRPr>
            </a:pPr>
            <a:r>
              <a:t>Two-Way Interop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407408"/>
            <a:ext cx="3557016" cy="12344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React calls window.StyleHub methods (openProductModal, addToCart, openCart).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script.js can trigger window.StyleHub.refreshCatalog() on external changes.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Zero disruption: existing localStorage, modal, and bag systems stay intact.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8862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4014215"/>
            <a:ext cx="355701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Georgia"/>
              </a:defRPr>
            </a:pPr>
            <a:r>
              <a:t>Modern Tooling with Vite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4407408"/>
            <a:ext cx="3557016" cy="12344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React 18 + Vite pipeline with instant Hot Module Replacement (HMR).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Transforms JSX components into optimized JavaScript for modern browsers.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Repeatable scripts in package.json: npm run dev, build, and preview.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795527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C64119"/>
                </a:solidFill>
                <a:latin typeface="Arial"/>
              </a:defRPr>
            </a:pPr>
            <a:r>
              <a:t>Hybrid Architecture: High-interaction catalog powered by React 18, coexisting cleanly with vanilla JS 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0392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"/>
            <a:ext cx="2084831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F1E00"/>
          </a:solidFill>
          <a:ln>
            <a:solidFill>
              <a:srgbClr val="FF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6606540"/>
            <a:ext cx="2286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29260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C64119"/>
                </a:solidFill>
                <a:latin typeface="Arial"/>
              </a:defRPr>
            </a:pPr>
            <a:r>
              <a:t>REACT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82296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>
                <a:solidFill>
                  <a:srgbClr val="141414"/>
                </a:solidFill>
                <a:latin typeface="Georgia"/>
              </a:defRPr>
            </a:pPr>
            <a:r>
              <a:t>Components, Props &amp; State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56816"/>
            <a:ext cx="355701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Georgia"/>
              </a:defRPr>
            </a:pPr>
            <a:r>
              <a:t>&lt;ProductCatalog&gt;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0008"/>
            <a:ext cx="3557016" cy="12344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Top-level container component managing search input and collection chips.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Dynamically derives unique categories ('Tops', 'Bottoms', 'Sets') via Set.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Renders responsive grid of ProductCard items with live item counter.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8288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956816"/>
            <a:ext cx="355701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Georgia"/>
              </a:defRPr>
            </a:pPr>
            <a:r>
              <a:t>&lt;ProductCard&gt;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350008"/>
            <a:ext cx="3557016" cy="12344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Reusable UI card displaying image, badge, formatted price, and rating stars.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Receives data via props: product, rating, reviewCount, onOpen, onAdd.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Uses stopPropagation so card click (modal) and add-to-bag operate cleanly.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014215"/>
            <a:ext cx="355701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Georgia"/>
              </a:defRPr>
            </a:pPr>
            <a:r>
              <a:t>useState 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407408"/>
            <a:ext cx="3557016" cy="12344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search &amp; collection: Track active text and category filters in ProductCatalog.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quantity: Each ProductCard maintains its own isolated quantity state (1–99).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Independent quantity states ensure updating one piece never affects others.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886200"/>
            <a:ext cx="3886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4014215"/>
            <a:ext cx="355701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Georgia"/>
              </a:defRPr>
            </a:pPr>
            <a:r>
              <a:t>useMemo Hook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4407408"/>
            <a:ext cx="3557016" cy="12344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Derives visibleProducts array by filtering against collection AND search text.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Memoizes result: recalculates only when search, filter, or products change.</a:t>
            </a:r>
          </a:p>
          <a:p>
            <a:pPr>
              <a:spcAft>
                <a:spcPts val="400"/>
              </a:spcAft>
              <a:defRPr sz="1300" b="0">
                <a:solidFill>
                  <a:srgbClr val="5F5F5F"/>
                </a:solidFill>
                <a:latin typeface="Arial"/>
              </a:defRPr>
            </a:pPr>
            <a:r>
              <a:t>• Delivers sub-millisecond real-time search without redundant computations.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795527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C64119"/>
                </a:solidFill>
                <a:latin typeface="Arial"/>
              </a:defRPr>
            </a:pPr>
            <a:r>
              <a:t>Clean Unidirectional Data Flow: State (search/filters) → useMemo → Props Down → Action Callbacks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